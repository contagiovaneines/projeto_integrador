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roxima Nova Heavy" charset="1" panose="02000506030000020004"/>
      <p:regular r:id="rId25"/>
    </p:embeddedFont>
    <p:embeddedFont>
      <p:font typeface="Proxima Nova Bold" charset="1" panose="02000506030000020004"/>
      <p:regular r:id="rId26"/>
    </p:embeddedFont>
    <p:embeddedFont>
      <p:font typeface="Proxima Nova" charset="1" panose="02000506030000020004"/>
      <p:regular r:id="rId27"/>
    </p:embeddedFont>
    <p:embeddedFont>
      <p:font typeface="Raleway" charset="1" panose="00000000000000000000"/>
      <p:regular r:id="rId28"/>
    </p:embeddedFont>
    <p:embeddedFont>
      <p:font typeface="Open Sans Bold" charset="1" panose="020B0806030504020204"/>
      <p:regular r:id="rId29"/>
    </p:embeddedFont>
    <p:embeddedFont>
      <p:font typeface="Open Sans" charset="1" panose="020B0606030504020204"/>
      <p:regular r:id="rId30"/>
    </p:embeddedFont>
    <p:embeddedFont>
      <p:font typeface="Raleway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Relationship Id="rId8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https://www.google.com/search?q=EMPRESA+VIA+ONDA&amp;oq=EMPRESA+VIA+ONDA&amp;gs_lcrp=EgZjaHJvbWUyBggAEEUYOTIHCAEQIRigATIHCAIQIRigATIHCAMQIRigATIHCAQQIRifBTIHCAUQIRifBTIHCAYQIRifBTIHCAcQIRifBTIHCAgQIRifBTIHCAkQIRifBdIBCDUyNDRqMGo3qAIAsAIA&amp;sourceid=chrome&amp;ie=UTF-8" TargetMode="External" Type="http://schemas.openxmlformats.org/officeDocument/2006/relationships/hyperlink"/><Relationship Id="rId8" Target="https://www.google.com/search?sca_esv=178e2c54028f2967&amp;sxsrf=AE3TifM2Xohvm6m0ID88kFnIpil_liChDA:1763080620484&amp;q=viaonda+rfid+endere%C3%A7o&amp;ludocid=9254413982035958430&amp;sa=X&amp;ved=2ahUKEwihq-CQs_CQAxU0pZUCHQqpEkgQ6BN6BAgoEAI" TargetMode="External" Type="http://schemas.openxmlformats.org/officeDocument/2006/relationships/hyperlink"/><Relationship Id="rId9" Target="https://www.google.com/search?sca_esv=178e2c54028f2967&amp;sxsrf=AE3TifM2Xohvm6m0ID88kFnIpil_liChDA:1763080620484&amp;q=viaonda+rfid+endere%C3%A7o&amp;ludocid=9254413982035958430&amp;sa=X&amp;ved=2ahUKEwihq-CQs_CQAxU0pZUCHQqpEkgQ6BN6BAgoEAI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jpe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jpe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3.png" Type="http://schemas.openxmlformats.org/officeDocument/2006/relationships/image"/><Relationship Id="rId4" Target="../media/image5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9010" y="3192103"/>
            <a:ext cx="11873584" cy="7858154"/>
          </a:xfrm>
          <a:custGeom>
            <a:avLst/>
            <a:gdLst/>
            <a:ahLst/>
            <a:cxnLst/>
            <a:rect r="r" b="b" t="t" l="l"/>
            <a:pathLst>
              <a:path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3"/>
                </a:lnTo>
                <a:lnTo>
                  <a:pt x="0" y="7858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97659" y="6323762"/>
            <a:ext cx="247648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999" b="tru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CLIENTE: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42350" y="9552300"/>
            <a:ext cx="1660777" cy="1469400"/>
            <a:chOff x="0" y="0"/>
            <a:chExt cx="437406" cy="387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9654" y="9580856"/>
            <a:ext cx="489701" cy="1469400"/>
            <a:chOff x="0" y="0"/>
            <a:chExt cx="128975" cy="387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584246" y="5719995"/>
            <a:ext cx="3155857" cy="1835550"/>
            <a:chOff x="0" y="0"/>
            <a:chExt cx="4207810" cy="244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7764" cy="2447417"/>
            </a:xfrm>
            <a:custGeom>
              <a:avLst/>
              <a:gdLst/>
              <a:ahLst/>
              <a:cxnLst/>
              <a:rect r="r" b="b" t="t" l="l"/>
              <a:pathLst>
                <a:path h="2447417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447417"/>
                  </a:lnTo>
                  <a:lnTo>
                    <a:pt x="0" y="2447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307628" y="89453"/>
            <a:ext cx="1903344" cy="939248"/>
            <a:chOff x="0" y="0"/>
            <a:chExt cx="2537792" cy="12523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7841" cy="1252347"/>
            </a:xfrm>
            <a:custGeom>
              <a:avLst/>
              <a:gdLst/>
              <a:ahLst/>
              <a:cxnLst/>
              <a:rect r="r" b="b" t="t" l="l"/>
              <a:pathLst>
                <a:path h="1252347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1252347"/>
                  </a:lnTo>
                  <a:lnTo>
                    <a:pt x="0" y="125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03" t="0" r="-1401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183799"/>
            <a:ext cx="3291840" cy="3291840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8888" r="0" b="-3888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57254" y="2999221"/>
            <a:ext cx="149734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MONITORAMENTO DE FERRAMENTAS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6235" y="564558"/>
            <a:ext cx="7247904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true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PROJETO INTEGRADOR - SPRINT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1135" y="5646018"/>
            <a:ext cx="6042642" cy="46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>
                <a:solidFill>
                  <a:srgbClr val="0CC0DF"/>
                </a:solidFill>
                <a:latin typeface="Proxima Nova"/>
                <a:ea typeface="Proxima Nova"/>
                <a:cs typeface="Proxima Nova"/>
                <a:sym typeface="Proxima Nova"/>
              </a:rPr>
              <a:t>Membros: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1135" y="6342356"/>
            <a:ext cx="7750200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Product Owner: GABRIEL HOFFMANN 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Scrum Master1: BIANCA REIS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Scrum Master 2: THAYNARA FERREIRA</a:t>
            </a:r>
          </a:p>
          <a:p>
            <a:pPr algn="l">
              <a:lnSpc>
                <a:spcPts val="2580"/>
              </a:lnSpc>
            </a:pP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Scrum Team: 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ARTHUR BISPO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JESIEL RIBEIRO 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LUCAS CALÁCIO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TIAGO CUNHA </a:t>
            </a:r>
          </a:p>
          <a:p>
            <a:pPr algn="l">
              <a:lnSpc>
                <a:spcPts val="2580"/>
              </a:lnSpc>
            </a:pPr>
            <a:r>
              <a:rPr lang="en-US" b="true" sz="2150">
                <a:solidFill>
                  <a:srgbClr val="00306D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30826" y="3956601"/>
            <a:ext cx="11873584" cy="7858154"/>
          </a:xfrm>
          <a:custGeom>
            <a:avLst/>
            <a:gdLst/>
            <a:ahLst/>
            <a:cxnLst/>
            <a:rect r="r" b="b" t="t" l="l"/>
            <a:pathLst>
              <a:path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2778" y="1700764"/>
            <a:ext cx="247648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sz="3999" b="tru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CLIENTE: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42350" y="9552300"/>
            <a:ext cx="1660777" cy="1469400"/>
            <a:chOff x="0" y="0"/>
            <a:chExt cx="437406" cy="387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9654" y="9580856"/>
            <a:ext cx="489701" cy="1469400"/>
            <a:chOff x="0" y="0"/>
            <a:chExt cx="128975" cy="3870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709364" y="1096996"/>
            <a:ext cx="3155857" cy="1835550"/>
            <a:chOff x="0" y="0"/>
            <a:chExt cx="4207810" cy="244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7764" cy="2447417"/>
            </a:xfrm>
            <a:custGeom>
              <a:avLst/>
              <a:gdLst/>
              <a:ahLst/>
              <a:cxnLst/>
              <a:rect r="r" b="b" t="t" l="l"/>
              <a:pathLst>
                <a:path h="2447417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447417"/>
                  </a:lnTo>
                  <a:lnTo>
                    <a:pt x="0" y="2447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307628" y="89453"/>
            <a:ext cx="1903344" cy="939248"/>
            <a:chOff x="0" y="0"/>
            <a:chExt cx="2537792" cy="12523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7841" cy="1252347"/>
            </a:xfrm>
            <a:custGeom>
              <a:avLst/>
              <a:gdLst/>
              <a:ahLst/>
              <a:cxnLst/>
              <a:rect r="r" b="b" t="t" l="l"/>
              <a:pathLst>
                <a:path h="1252347" w="2537841">
                  <a:moveTo>
                    <a:pt x="0" y="0"/>
                  </a:moveTo>
                  <a:lnTo>
                    <a:pt x="2537841" y="0"/>
                  </a:lnTo>
                  <a:lnTo>
                    <a:pt x="2537841" y="1252347"/>
                  </a:lnTo>
                  <a:lnTo>
                    <a:pt x="0" y="1252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03" t="0" r="-1401" b="1"/>
              </a:stretch>
            </a:blipFill>
          </p:spPr>
        </p:sp>
      </p:grpSp>
      <p:graphicFrame>
        <p:nvGraphicFramePr>
          <p:cNvPr name="Object 14" id="14"/>
          <p:cNvGraphicFramePr/>
          <p:nvPr/>
        </p:nvGraphicFramePr>
        <p:xfrm>
          <a:off x="1792937" y="3215317"/>
          <a:ext cx="16230600" cy="5484356"/>
        </p:xfrm>
        <a:graphic>
          <a:graphicData uri="http://schemas.openxmlformats.org/presentationml/2006/ole">
            <p:oleObj imgW="19469100" imgH="872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5526235" y="564558"/>
            <a:ext cx="7247904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true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PROJETO INTEGRADOR - SPRINT 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030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80855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70419" y="9258300"/>
            <a:ext cx="1660777" cy="1469400"/>
            <a:chOff x="0" y="0"/>
            <a:chExt cx="437406" cy="3870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99343" y="8523600"/>
            <a:ext cx="489701" cy="1469400"/>
            <a:chOff x="0" y="0"/>
            <a:chExt cx="128975" cy="3870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75685" y="0"/>
            <a:ext cx="2012315" cy="2012315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049752" y="1009650"/>
            <a:ext cx="1218849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OPÇÕES DE ARQUITETURA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4594" y="2507615"/>
            <a:ext cx="13378812" cy="631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 A ideia inicial era utilizar o sistema RFID uma tecnologia excelente para nosso projeto, porém sendo muito difícil de adquirir. Então pensamos em utilizar outro método para compensar e ser tão util quanto o sistema RFID.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 A Tecnologia dos sensores possibilita utilizar sensores infravermelho que podem ser utiizados em conjunto para identificar a presença da ferramenta , e assim possibilitando eficiência e menos custo para implementação.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5866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41184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7567114" cy="10287000"/>
            <a:chOff x="0" y="0"/>
            <a:chExt cx="812800" cy="1104949"/>
          </a:xfrm>
        </p:grpSpPr>
        <p:sp>
          <p:nvSpPr>
            <p:cNvPr name="Freeform 15" id="15"/>
            <p:cNvSpPr/>
            <p:nvPr/>
          </p:nvSpPr>
          <p:spPr>
            <a:xfrm flipH="false" flipV="false" rot="5400000">
              <a:off x="-146074" y="146074"/>
              <a:ext cx="110494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4949">
                  <a:moveTo>
                    <a:pt x="0" y="812800"/>
                  </a:moveTo>
                  <a:lnTo>
                    <a:pt x="0" y="0"/>
                  </a:lnTo>
                  <a:lnTo>
                    <a:pt x="1104948" y="0"/>
                  </a:lnTo>
                  <a:lnTo>
                    <a:pt x="1104948" y="812800"/>
                  </a:lnTo>
                  <a:close/>
                </a:path>
              </a:pathLst>
            </a:custGeom>
            <a:blipFill>
              <a:blip r:embed="rId2"/>
              <a:stretch>
                <a:fillRect l="-17015" t="0" r="-14665" b="-69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4555" y="-1014054"/>
            <a:ext cx="1660777" cy="1469400"/>
            <a:chOff x="0" y="0"/>
            <a:chExt cx="437406" cy="3870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89873" y="-1014054"/>
            <a:ext cx="489701" cy="1469400"/>
            <a:chOff x="0" y="0"/>
            <a:chExt cx="128975" cy="3870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74708" y="0"/>
            <a:ext cx="1913292" cy="1913292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8888" r="0" b="-3888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685319" y="436296"/>
            <a:ext cx="10274729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SENSOR INFRAVERMELHO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11793" y="2873655"/>
            <a:ext cx="10248255" cy="674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O sensor de obstáculo reflexivo infravermelho é capaz de detectar se existe algum objeto a sua frente, sendo utilizado em projetos de detecção de objetos, movimentação ou medição de distância.</a:t>
            </a:r>
          </a:p>
          <a:p>
            <a:pPr algn="l">
              <a:lnSpc>
                <a:spcPts val="4433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• O funcionamento se baseia na reflexão da luz infravermelha: se há reflexão, o sensor detecta um obstáculo.</a:t>
            </a:r>
          </a:p>
          <a:p>
            <a:pPr algn="l">
              <a:lnSpc>
                <a:spcPts val="443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4555" y="-1014054"/>
            <a:ext cx="1660777" cy="1469400"/>
            <a:chOff x="0" y="0"/>
            <a:chExt cx="437406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89873" y="-1014054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00090" y="1520507"/>
            <a:ext cx="7344499" cy="8327474"/>
            <a:chOff x="0" y="0"/>
            <a:chExt cx="1934354" cy="2193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4354" cy="2193244"/>
            </a:xfrm>
            <a:custGeom>
              <a:avLst/>
              <a:gdLst/>
              <a:ahLst/>
              <a:cxnLst/>
              <a:rect r="r" b="b" t="t" l="l"/>
              <a:pathLst>
                <a:path h="2193244" w="1934354">
                  <a:moveTo>
                    <a:pt x="0" y="0"/>
                  </a:moveTo>
                  <a:lnTo>
                    <a:pt x="1934354" y="0"/>
                  </a:lnTo>
                  <a:lnTo>
                    <a:pt x="1934354" y="2193244"/>
                  </a:lnTo>
                  <a:lnTo>
                    <a:pt x="0" y="2193244"/>
                  </a:lnTo>
                  <a:close/>
                </a:path>
              </a:pathLst>
            </a:custGeom>
            <a:solidFill>
              <a:srgbClr val="022F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34354" cy="224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4943" y="1520507"/>
            <a:ext cx="7344499" cy="8327474"/>
            <a:chOff x="0" y="0"/>
            <a:chExt cx="1934354" cy="2193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4354" cy="2193244"/>
            </a:xfrm>
            <a:custGeom>
              <a:avLst/>
              <a:gdLst/>
              <a:ahLst/>
              <a:cxnLst/>
              <a:rect r="r" b="b" t="t" l="l"/>
              <a:pathLst>
                <a:path h="2193244" w="1934354">
                  <a:moveTo>
                    <a:pt x="0" y="0"/>
                  </a:moveTo>
                  <a:lnTo>
                    <a:pt x="1934354" y="0"/>
                  </a:lnTo>
                  <a:lnTo>
                    <a:pt x="1934354" y="2193244"/>
                  </a:lnTo>
                  <a:lnTo>
                    <a:pt x="0" y="2193244"/>
                  </a:lnTo>
                  <a:close/>
                </a:path>
              </a:pathLst>
            </a:custGeom>
            <a:solidFill>
              <a:srgbClr val="022F5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34354" cy="224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94717" y="2378715"/>
            <a:ext cx="7315200" cy="754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Identificação individual: Udentifica exatamente qual ferramenta está presente ou faltando.</a:t>
            </a: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Alta confiabilidade: Não depende de iluminação, posição exata ou alinhamento.</a:t>
            </a: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Multi-leitura: Vários itens podem ser identificados ao mesmo tempo.</a:t>
            </a:r>
          </a:p>
          <a:p>
            <a:pPr algn="l">
              <a:lnSpc>
                <a:spcPts val="5006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74943" y="6629400"/>
            <a:ext cx="7344499" cy="3672249"/>
          </a:xfrm>
          <a:custGeom>
            <a:avLst/>
            <a:gdLst/>
            <a:ahLst/>
            <a:cxnLst/>
            <a:rect r="r" b="b" t="t" l="l"/>
            <a:pathLst>
              <a:path h="3672249" w="7344499">
                <a:moveTo>
                  <a:pt x="0" y="0"/>
                </a:moveTo>
                <a:lnTo>
                  <a:pt x="7344499" y="0"/>
                </a:lnTo>
                <a:lnTo>
                  <a:pt x="7344499" y="3672249"/>
                </a:lnTo>
                <a:lnTo>
                  <a:pt x="0" y="367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0090" y="6698687"/>
            <a:ext cx="7357109" cy="3678554"/>
          </a:xfrm>
          <a:custGeom>
            <a:avLst/>
            <a:gdLst/>
            <a:ahLst/>
            <a:cxnLst/>
            <a:rect r="r" b="b" t="t" l="l"/>
            <a:pathLst>
              <a:path h="3678554" w="7357109">
                <a:moveTo>
                  <a:pt x="0" y="0"/>
                </a:moveTo>
                <a:lnTo>
                  <a:pt x="7357109" y="0"/>
                </a:lnTo>
                <a:lnTo>
                  <a:pt x="7357109" y="3678554"/>
                </a:lnTo>
                <a:lnTo>
                  <a:pt x="0" y="3678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529158" y="0"/>
            <a:ext cx="1758842" cy="1758842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5193" r="0" b="-3258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494679" y="517843"/>
            <a:ext cx="1329864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RFID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40321" y="1825517"/>
            <a:ext cx="409855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b="true" sz="5000">
                <a:solidFill>
                  <a:srgbClr val="E7E6E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VANTAGENS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92275" y="1873186"/>
            <a:ext cx="57601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b="true" sz="5000">
                <a:solidFill>
                  <a:srgbClr val="E7E6E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DESVATAGENS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41999" y="3016397"/>
            <a:ext cx="7250433" cy="627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Custo</a:t>
            </a: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 maior: tanto das tags quanto do leitor.</a:t>
            </a:r>
          </a:p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Integração mais complexa: precisa de sistema para identificar, registrar e comparar as leituras.</a:t>
            </a:r>
          </a:p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Sensibilidade: Superfícies metálicas podem exigir tags especiais ou espaçadores.</a:t>
            </a:r>
          </a:p>
          <a:p>
            <a:pPr algn="l">
              <a:lnSpc>
                <a:spcPts val="501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4555" y="-1014054"/>
            <a:ext cx="1660777" cy="1469400"/>
            <a:chOff x="0" y="0"/>
            <a:chExt cx="437406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89873" y="-1014054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00090" y="1520507"/>
            <a:ext cx="7344499" cy="8327474"/>
            <a:chOff x="0" y="0"/>
            <a:chExt cx="1934354" cy="2193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4354" cy="2193244"/>
            </a:xfrm>
            <a:custGeom>
              <a:avLst/>
              <a:gdLst/>
              <a:ahLst/>
              <a:cxnLst/>
              <a:rect r="r" b="b" t="t" l="l"/>
              <a:pathLst>
                <a:path h="2193244" w="1934354">
                  <a:moveTo>
                    <a:pt x="0" y="0"/>
                  </a:moveTo>
                  <a:lnTo>
                    <a:pt x="1934354" y="0"/>
                  </a:lnTo>
                  <a:lnTo>
                    <a:pt x="1934354" y="2193244"/>
                  </a:lnTo>
                  <a:lnTo>
                    <a:pt x="0" y="2193244"/>
                  </a:lnTo>
                  <a:close/>
                </a:path>
              </a:pathLst>
            </a:custGeom>
            <a:solidFill>
              <a:srgbClr val="022F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34354" cy="224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4943" y="1520507"/>
            <a:ext cx="7344499" cy="8327474"/>
            <a:chOff x="0" y="0"/>
            <a:chExt cx="1934354" cy="2193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4354" cy="2193244"/>
            </a:xfrm>
            <a:custGeom>
              <a:avLst/>
              <a:gdLst/>
              <a:ahLst/>
              <a:cxnLst/>
              <a:rect r="r" b="b" t="t" l="l"/>
              <a:pathLst>
                <a:path h="2193244" w="1934354">
                  <a:moveTo>
                    <a:pt x="0" y="0"/>
                  </a:moveTo>
                  <a:lnTo>
                    <a:pt x="1934354" y="0"/>
                  </a:lnTo>
                  <a:lnTo>
                    <a:pt x="1934354" y="2193244"/>
                  </a:lnTo>
                  <a:lnTo>
                    <a:pt x="0" y="2193244"/>
                  </a:lnTo>
                  <a:close/>
                </a:path>
              </a:pathLst>
            </a:custGeom>
            <a:solidFill>
              <a:srgbClr val="022F5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34354" cy="224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4943" y="2300849"/>
            <a:ext cx="7315200" cy="754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Custo muito baixo: Sensores são baratos e fáceis de instalar.</a:t>
            </a: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Resposta rápida: detecção imediata da presença na posição.</a:t>
            </a: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Implementação simples: não precisa de tags, só do sensor.</a:t>
            </a:r>
          </a:p>
          <a:p>
            <a:pPr algn="l" marL="772072" indent="-386036" lvl="1">
              <a:lnSpc>
                <a:spcPts val="5006"/>
              </a:lnSpc>
              <a:buFont typeface="Arial"/>
              <a:buChar char="•"/>
            </a:pPr>
            <a:r>
              <a:rPr lang="en-US" sz="3576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Boa opção para posições fixas: quando cada ferramenta tem sua cavidade específica.</a:t>
            </a:r>
          </a:p>
          <a:p>
            <a:pPr algn="l">
              <a:lnSpc>
                <a:spcPts val="5006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700090" y="6614751"/>
            <a:ext cx="7344499" cy="3672249"/>
          </a:xfrm>
          <a:custGeom>
            <a:avLst/>
            <a:gdLst/>
            <a:ahLst/>
            <a:cxnLst/>
            <a:rect r="r" b="b" t="t" l="l"/>
            <a:pathLst>
              <a:path h="3672249" w="7344499">
                <a:moveTo>
                  <a:pt x="0" y="0"/>
                </a:moveTo>
                <a:lnTo>
                  <a:pt x="7344499" y="0"/>
                </a:lnTo>
                <a:lnTo>
                  <a:pt x="7344499" y="3672249"/>
                </a:lnTo>
                <a:lnTo>
                  <a:pt x="0" y="367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4943" y="6684038"/>
            <a:ext cx="7344499" cy="3672249"/>
          </a:xfrm>
          <a:custGeom>
            <a:avLst/>
            <a:gdLst/>
            <a:ahLst/>
            <a:cxnLst/>
            <a:rect r="r" b="b" t="t" l="l"/>
            <a:pathLst>
              <a:path h="3672249" w="7344499">
                <a:moveTo>
                  <a:pt x="0" y="0"/>
                </a:moveTo>
                <a:lnTo>
                  <a:pt x="7344499" y="0"/>
                </a:lnTo>
                <a:lnTo>
                  <a:pt x="7344499" y="3672249"/>
                </a:lnTo>
                <a:lnTo>
                  <a:pt x="0" y="367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915636" y="148143"/>
            <a:ext cx="1372364" cy="1372364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00090" y="3138910"/>
            <a:ext cx="7344499" cy="5014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Nã</a:t>
            </a: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 identifica qual ferramenta, apenas se algo está na posição.</a:t>
            </a:r>
          </a:p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Requer alinhamento físico preciso: mudança na posição pode impedir a detecção.</a:t>
            </a:r>
          </a:p>
          <a:p>
            <a:pPr algn="l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Manutenção: limpeza de sensores e ajustes são frequentes.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94679" y="517843"/>
            <a:ext cx="1329864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INFRAVERMELHO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40321" y="1825517"/>
            <a:ext cx="409855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b="true" sz="5000">
                <a:solidFill>
                  <a:srgbClr val="E7E6E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VANTAGENS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92275" y="1873186"/>
            <a:ext cx="57601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b="true" sz="5000">
                <a:solidFill>
                  <a:srgbClr val="E7E6ED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DESVANTAGENS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05696" y="2916448"/>
            <a:ext cx="3312118" cy="2472329"/>
          </a:xfrm>
          <a:custGeom>
            <a:avLst/>
            <a:gdLst/>
            <a:ahLst/>
            <a:cxnLst/>
            <a:rect r="r" b="b" t="t" l="l"/>
            <a:pathLst>
              <a:path h="2472329" w="3312118">
                <a:moveTo>
                  <a:pt x="0" y="0"/>
                </a:moveTo>
                <a:lnTo>
                  <a:pt x="3312118" y="0"/>
                </a:lnTo>
                <a:lnTo>
                  <a:pt x="3312118" y="2472329"/>
                </a:lnTo>
                <a:lnTo>
                  <a:pt x="0" y="2472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602" r="0" b="-3402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05696" y="5620396"/>
            <a:ext cx="3312118" cy="2472329"/>
          </a:xfrm>
          <a:custGeom>
            <a:avLst/>
            <a:gdLst/>
            <a:ahLst/>
            <a:cxnLst/>
            <a:rect r="r" b="b" t="t" l="l"/>
            <a:pathLst>
              <a:path h="2472329" w="3312118">
                <a:moveTo>
                  <a:pt x="0" y="0"/>
                </a:moveTo>
                <a:lnTo>
                  <a:pt x="3312118" y="0"/>
                </a:lnTo>
                <a:lnTo>
                  <a:pt x="3312118" y="2472329"/>
                </a:lnTo>
                <a:lnTo>
                  <a:pt x="0" y="2472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49" t="-30567" r="0" b="-7547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7907835" y="2508055"/>
            <a:ext cx="2472329" cy="3289114"/>
          </a:xfrm>
          <a:custGeom>
            <a:avLst/>
            <a:gdLst/>
            <a:ahLst/>
            <a:cxnLst/>
            <a:rect r="r" b="b" t="t" l="l"/>
            <a:pathLst>
              <a:path h="3289114" w="2472329">
                <a:moveTo>
                  <a:pt x="0" y="0"/>
                </a:moveTo>
                <a:lnTo>
                  <a:pt x="2472330" y="0"/>
                </a:lnTo>
                <a:lnTo>
                  <a:pt x="2472330" y="3289115"/>
                </a:lnTo>
                <a:lnTo>
                  <a:pt x="0" y="328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89" t="-18005" r="-24553" b="-16637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970186" y="2916448"/>
            <a:ext cx="3289114" cy="2472329"/>
          </a:xfrm>
          <a:custGeom>
            <a:avLst/>
            <a:gdLst/>
            <a:ahLst/>
            <a:cxnLst/>
            <a:rect r="r" b="b" t="t" l="l"/>
            <a:pathLst>
              <a:path h="2472329" w="3289114">
                <a:moveTo>
                  <a:pt x="0" y="0"/>
                </a:moveTo>
                <a:lnTo>
                  <a:pt x="3289114" y="0"/>
                </a:lnTo>
                <a:lnTo>
                  <a:pt x="3289114" y="2472329"/>
                </a:lnTo>
                <a:lnTo>
                  <a:pt x="0" y="2472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0771" r="-10227" b="-3475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7907835" y="5212004"/>
            <a:ext cx="2472329" cy="3289114"/>
          </a:xfrm>
          <a:custGeom>
            <a:avLst/>
            <a:gdLst/>
            <a:ahLst/>
            <a:cxnLst/>
            <a:rect r="r" b="b" t="t" l="l"/>
            <a:pathLst>
              <a:path h="3289114" w="2472329">
                <a:moveTo>
                  <a:pt x="0" y="0"/>
                </a:moveTo>
                <a:lnTo>
                  <a:pt x="2472330" y="0"/>
                </a:lnTo>
                <a:lnTo>
                  <a:pt x="2472330" y="3289114"/>
                </a:lnTo>
                <a:lnTo>
                  <a:pt x="0" y="3289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963" t="-25306" r="-13457" b="-4496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70186" y="5620396"/>
            <a:ext cx="3289114" cy="2472329"/>
          </a:xfrm>
          <a:custGeom>
            <a:avLst/>
            <a:gdLst/>
            <a:ahLst/>
            <a:cxnLst/>
            <a:rect r="r" b="b" t="t" l="l"/>
            <a:pathLst>
              <a:path h="2472329" w="3289114">
                <a:moveTo>
                  <a:pt x="0" y="0"/>
                </a:moveTo>
                <a:lnTo>
                  <a:pt x="3289114" y="0"/>
                </a:lnTo>
                <a:lnTo>
                  <a:pt x="3289114" y="2472329"/>
                </a:lnTo>
                <a:lnTo>
                  <a:pt x="0" y="24723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16" t="-78434" r="0" b="-60243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5908768" y="2916448"/>
            <a:ext cx="0" cy="5176278"/>
          </a:xfrm>
          <a:prstGeom prst="line">
            <a:avLst/>
          </a:prstGeom>
          <a:ln cap="flat" w="38100">
            <a:solidFill>
              <a:srgbClr val="0030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2379371" y="2916448"/>
            <a:ext cx="0" cy="5176278"/>
          </a:xfrm>
          <a:prstGeom prst="line">
            <a:avLst/>
          </a:prstGeom>
          <a:ln cap="flat" w="38100">
            <a:solidFill>
              <a:srgbClr val="0030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609439" y="630238"/>
            <a:ext cx="9069122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MATERIAIS NECESSÁRIOS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6533" y="2210079"/>
            <a:ext cx="1610444" cy="48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ARDUÍNO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06754" y="2210079"/>
            <a:ext cx="1474491" cy="47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19732" y="2210079"/>
            <a:ext cx="790022" cy="47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LED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763961" y="312258"/>
            <a:ext cx="2045607" cy="2045607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39655" r="0" b="-3965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9144000" y="2555361"/>
            <a:ext cx="19050" cy="5961859"/>
          </a:xfrm>
          <a:prstGeom prst="line">
            <a:avLst/>
          </a:prstGeom>
          <a:ln cap="flat" w="38100">
            <a:solidFill>
              <a:srgbClr val="0030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2175433" y="2916448"/>
            <a:ext cx="4868013" cy="5176278"/>
          </a:xfrm>
          <a:custGeom>
            <a:avLst/>
            <a:gdLst/>
            <a:ahLst/>
            <a:cxnLst/>
            <a:rect r="r" b="b" t="t" l="l"/>
            <a:pathLst>
              <a:path h="5176278" w="4868013">
                <a:moveTo>
                  <a:pt x="0" y="0"/>
                </a:moveTo>
                <a:lnTo>
                  <a:pt x="4868013" y="0"/>
                </a:lnTo>
                <a:lnTo>
                  <a:pt x="4868013" y="5176277"/>
                </a:lnTo>
                <a:lnTo>
                  <a:pt x="0" y="5176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66182" y="3277534"/>
            <a:ext cx="3624757" cy="2227052"/>
          </a:xfrm>
          <a:custGeom>
            <a:avLst/>
            <a:gdLst/>
            <a:ahLst/>
            <a:cxnLst/>
            <a:rect r="r" b="b" t="t" l="l"/>
            <a:pathLst>
              <a:path h="2227052" w="3624757">
                <a:moveTo>
                  <a:pt x="0" y="0"/>
                </a:moveTo>
                <a:lnTo>
                  <a:pt x="3624758" y="0"/>
                </a:lnTo>
                <a:lnTo>
                  <a:pt x="3624758" y="2227053"/>
                </a:lnTo>
                <a:lnTo>
                  <a:pt x="0" y="2227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541" r="-3562" b="-345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16956" y="5866537"/>
            <a:ext cx="3182314" cy="2533071"/>
          </a:xfrm>
          <a:custGeom>
            <a:avLst/>
            <a:gdLst/>
            <a:ahLst/>
            <a:cxnLst/>
            <a:rect r="r" b="b" t="t" l="l"/>
            <a:pathLst>
              <a:path h="2533071" w="3182314">
                <a:moveTo>
                  <a:pt x="0" y="0"/>
                </a:moveTo>
                <a:lnTo>
                  <a:pt x="3182315" y="0"/>
                </a:lnTo>
                <a:lnTo>
                  <a:pt x="3182315" y="2533070"/>
                </a:lnTo>
                <a:lnTo>
                  <a:pt x="0" y="2533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779" r="0" b="-1387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609439" y="630238"/>
            <a:ext cx="9069122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MATERIAIS NECESSÁRIOS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5918" y="2125810"/>
            <a:ext cx="3587042" cy="78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4"/>
              </a:lnSpc>
            </a:pPr>
            <a:r>
              <a:rPr lang="en-US" b="true" sz="2281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SENSOR INFRA VERMELHO REFLETIVO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76572" y="2125810"/>
            <a:ext cx="6003979" cy="78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4"/>
              </a:lnSpc>
            </a:pPr>
            <a:r>
              <a:rPr lang="en-US" b="true" sz="2281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SENSOR INFRAVERMELHO RECEPTOR + LED INFRA VERMELHO EMISSOR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299271" y="7461461"/>
            <a:ext cx="2111517" cy="2111517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9655" r="0" b="-3965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2488" y="3146931"/>
            <a:ext cx="5174075" cy="4528762"/>
          </a:xfrm>
          <a:custGeom>
            <a:avLst/>
            <a:gdLst/>
            <a:ahLst/>
            <a:cxnLst/>
            <a:rect r="r" b="b" t="t" l="l"/>
            <a:pathLst>
              <a:path h="4528762" w="5174075">
                <a:moveTo>
                  <a:pt x="0" y="0"/>
                </a:moveTo>
                <a:lnTo>
                  <a:pt x="5174075" y="0"/>
                </a:lnTo>
                <a:lnTo>
                  <a:pt x="5174075" y="4528762"/>
                </a:lnTo>
                <a:lnTo>
                  <a:pt x="0" y="452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2" t="0" r="-1582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1861" y="3432046"/>
            <a:ext cx="2475162" cy="450029"/>
          </a:xfrm>
          <a:custGeom>
            <a:avLst/>
            <a:gdLst/>
            <a:ahLst/>
            <a:cxnLst/>
            <a:rect r="r" b="b" t="t" l="l"/>
            <a:pathLst>
              <a:path h="450029" w="2475162">
                <a:moveTo>
                  <a:pt x="0" y="0"/>
                </a:moveTo>
                <a:lnTo>
                  <a:pt x="2475162" y="0"/>
                </a:lnTo>
                <a:lnTo>
                  <a:pt x="2475162" y="450029"/>
                </a:lnTo>
                <a:lnTo>
                  <a:pt x="0" y="4500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609439" y="630238"/>
            <a:ext cx="9069122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MATERIAIS NECESSÁRIOS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23203" y="3374896"/>
            <a:ext cx="4428636" cy="47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3"/>
              </a:lnSpc>
            </a:pPr>
            <a:r>
              <a:rPr lang="en-US" b="true" sz="2816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SENSOR POR PRESSÃO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77411" y="3446312"/>
            <a:ext cx="59055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6DAC"/>
                </a:solidFill>
                <a:latin typeface="Raleway"/>
                <a:ea typeface="Raleway"/>
                <a:cs typeface="Raleway"/>
                <a:sym typeface="Raleway"/>
              </a:rPr>
              <a:t> 5kg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720611" y="5731248"/>
            <a:ext cx="2846217" cy="2846217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9655" r="0" b="-3965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249219" y="2497468"/>
            <a:ext cx="9789561" cy="5652225"/>
          </a:xfrm>
          <a:custGeom>
            <a:avLst/>
            <a:gdLst/>
            <a:ahLst/>
            <a:cxnLst/>
            <a:rect r="r" b="b" t="t" l="l"/>
            <a:pathLst>
              <a:path h="5652225" w="9789561">
                <a:moveTo>
                  <a:pt x="0" y="0"/>
                </a:moveTo>
                <a:lnTo>
                  <a:pt x="9789562" y="0"/>
                </a:lnTo>
                <a:lnTo>
                  <a:pt x="9789562" y="5652225"/>
                </a:lnTo>
                <a:lnTo>
                  <a:pt x="0" y="5652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1159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299271" y="6823004"/>
            <a:ext cx="2349492" cy="2349492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9655" r="0" b="-396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09439" y="630238"/>
            <a:ext cx="9069122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CUSTOS INDIVIDUAIS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195491"/>
            <a:ext cx="16230600" cy="3000439"/>
          </a:xfrm>
          <a:custGeom>
            <a:avLst/>
            <a:gdLst/>
            <a:ahLst/>
            <a:cxnLst/>
            <a:rect r="r" b="b" t="t" l="l"/>
            <a:pathLst>
              <a:path h="3000439" w="16230600">
                <a:moveTo>
                  <a:pt x="0" y="0"/>
                </a:moveTo>
                <a:lnTo>
                  <a:pt x="16230600" y="0"/>
                </a:lnTo>
                <a:lnTo>
                  <a:pt x="16230600" y="3000439"/>
                </a:lnTo>
                <a:lnTo>
                  <a:pt x="0" y="3000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299271" y="6823004"/>
            <a:ext cx="2349492" cy="2349492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9655" r="0" b="-396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09439" y="630238"/>
            <a:ext cx="9069122" cy="154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CUSTOS DE DIFERENTES</a:t>
            </a:r>
          </a:p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ARQUITETURAS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5081" y="-734700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2787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60681" y="3004670"/>
            <a:ext cx="12966638" cy="2268606"/>
          </a:xfrm>
          <a:custGeom>
            <a:avLst/>
            <a:gdLst/>
            <a:ahLst/>
            <a:cxnLst/>
            <a:rect r="r" b="b" t="t" l="l"/>
            <a:pathLst>
              <a:path h="2268606" w="12966638">
                <a:moveTo>
                  <a:pt x="0" y="0"/>
                </a:moveTo>
                <a:lnTo>
                  <a:pt x="12966638" y="0"/>
                </a:lnTo>
                <a:lnTo>
                  <a:pt x="12966638" y="2268605"/>
                </a:lnTo>
                <a:lnTo>
                  <a:pt x="0" y="2268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299271" y="6823004"/>
            <a:ext cx="2349492" cy="2349492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9655" r="0" b="-396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09439" y="630238"/>
            <a:ext cx="9069122" cy="154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0"/>
              </a:lnSpc>
            </a:pPr>
            <a:r>
              <a:rPr lang="en-US" b="true" sz="50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COMPARATIVO</a:t>
            </a:r>
          </a:p>
          <a:p>
            <a:pPr algn="ctr" marL="0" indent="0" lvl="0">
              <a:lnSpc>
                <a:spcPts val="6100"/>
              </a:lnSpc>
              <a:spcBef>
                <a:spcPct val="0"/>
              </a:spcBef>
            </a:pPr>
            <a:r>
              <a:rPr lang="en-US" sz="5000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INFRAVERMELHO X RFID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2274" y="6031633"/>
            <a:ext cx="7721726" cy="288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9" b="true">
                <a:solidFill>
                  <a:srgbClr val="006DA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ECONOMIA OBTIDA:</a:t>
            </a:r>
          </a:p>
          <a:p>
            <a:pPr algn="l" marL="617588" indent="-308794" lvl="1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6DAC"/>
                </a:solidFill>
                <a:latin typeface="Open Sans"/>
                <a:ea typeface="Open Sans"/>
                <a:cs typeface="Open Sans"/>
                <a:sym typeface="Open Sans"/>
              </a:rPr>
              <a:t>Economia total: R$12.007,40</a:t>
            </a:r>
          </a:p>
          <a:p>
            <a:pPr algn="l" marL="617588" indent="-308794" lvl="1">
              <a:lnSpc>
                <a:spcPts val="4004"/>
              </a:lnSpc>
              <a:buFont typeface="Arial"/>
              <a:buChar char="•"/>
            </a:pPr>
            <a:r>
              <a:rPr lang="en-US" sz="2860">
                <a:solidFill>
                  <a:srgbClr val="006DAC"/>
                </a:solidFill>
                <a:latin typeface="Open Sans"/>
                <a:ea typeface="Open Sans"/>
                <a:cs typeface="Open Sans"/>
                <a:sym typeface="Open Sans"/>
              </a:rPr>
              <a:t>Redução de custos: ≈78%.</a:t>
            </a:r>
          </a:p>
          <a:p>
            <a:pPr algn="ctr">
              <a:lnSpc>
                <a:spcPts val="5250"/>
              </a:lnSpc>
            </a:pPr>
          </a:p>
          <a:p>
            <a:pPr algn="ctr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9707" y="9621587"/>
            <a:ext cx="3640136" cy="1469400"/>
            <a:chOff x="0" y="0"/>
            <a:chExt cx="958719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8719" cy="387002"/>
            </a:xfrm>
            <a:custGeom>
              <a:avLst/>
              <a:gdLst/>
              <a:ahLst/>
              <a:cxnLst/>
              <a:rect r="r" b="b" t="t" l="l"/>
              <a:pathLst>
                <a:path h="387002" w="958719">
                  <a:moveTo>
                    <a:pt x="0" y="0"/>
                  </a:moveTo>
                  <a:lnTo>
                    <a:pt x="958719" y="0"/>
                  </a:lnTo>
                  <a:lnTo>
                    <a:pt x="958719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58719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69843" y="9621587"/>
            <a:ext cx="1947609" cy="1156068"/>
            <a:chOff x="0" y="0"/>
            <a:chExt cx="512951" cy="304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2951" cy="304479"/>
            </a:xfrm>
            <a:custGeom>
              <a:avLst/>
              <a:gdLst/>
              <a:ahLst/>
              <a:cxnLst/>
              <a:rect r="r" b="b" t="t" l="l"/>
              <a:pathLst>
                <a:path h="304479" w="512951">
                  <a:moveTo>
                    <a:pt x="0" y="0"/>
                  </a:moveTo>
                  <a:lnTo>
                    <a:pt x="512951" y="0"/>
                  </a:lnTo>
                  <a:lnTo>
                    <a:pt x="512951" y="304479"/>
                  </a:lnTo>
                  <a:lnTo>
                    <a:pt x="0" y="304479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2951" cy="352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90985" y="0"/>
            <a:ext cx="2328161" cy="2328161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655" r="0" b="-3965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899123" y="3097314"/>
            <a:ext cx="8489755" cy="1754721"/>
          </a:xfrm>
          <a:custGeom>
            <a:avLst/>
            <a:gdLst/>
            <a:ahLst/>
            <a:cxnLst/>
            <a:rect r="r" b="b" t="t" l="l"/>
            <a:pathLst>
              <a:path h="1754721" w="8489755">
                <a:moveTo>
                  <a:pt x="0" y="0"/>
                </a:moveTo>
                <a:lnTo>
                  <a:pt x="8489754" y="0"/>
                </a:lnTo>
                <a:lnTo>
                  <a:pt x="8489754" y="1754721"/>
                </a:lnTo>
                <a:lnTo>
                  <a:pt x="0" y="1754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34421" y="6951884"/>
            <a:ext cx="1490548" cy="1850568"/>
          </a:xfrm>
          <a:custGeom>
            <a:avLst/>
            <a:gdLst/>
            <a:ahLst/>
            <a:cxnLst/>
            <a:rect r="r" b="b" t="t" l="l"/>
            <a:pathLst>
              <a:path h="1850568" w="1490548">
                <a:moveTo>
                  <a:pt x="0" y="0"/>
                </a:moveTo>
                <a:lnTo>
                  <a:pt x="1490548" y="0"/>
                </a:lnTo>
                <a:lnTo>
                  <a:pt x="1490548" y="1850568"/>
                </a:lnTo>
                <a:lnTo>
                  <a:pt x="0" y="1850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29707" y="8406253"/>
            <a:ext cx="5587746" cy="1215335"/>
          </a:xfrm>
          <a:custGeom>
            <a:avLst/>
            <a:gdLst/>
            <a:ahLst/>
            <a:cxnLst/>
            <a:rect r="r" b="b" t="t" l="l"/>
            <a:pathLst>
              <a:path h="1215335" w="5587746">
                <a:moveTo>
                  <a:pt x="0" y="0"/>
                </a:moveTo>
                <a:lnTo>
                  <a:pt x="5587745" y="0"/>
                </a:lnTo>
                <a:lnTo>
                  <a:pt x="5587745" y="1215334"/>
                </a:lnTo>
                <a:lnTo>
                  <a:pt x="0" y="1215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34421" y="1901578"/>
            <a:ext cx="12956564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6"/>
              </a:lnSpc>
              <a:spcBef>
                <a:spcPct val="0"/>
              </a:spcBef>
            </a:pPr>
            <a:r>
              <a:rPr lang="en-US" b="true" sz="63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EMPRESA REFERÊNCIA EM RFID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5968" y="8825140"/>
            <a:ext cx="4174440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ATENDIMENTO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63008" y="9431405"/>
            <a:ext cx="264036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6DAC"/>
                </a:solidFill>
                <a:latin typeface="Raleway"/>
                <a:ea typeface="Raleway"/>
                <a:cs typeface="Raleway"/>
                <a:sym typeface="Raleway"/>
              </a:rPr>
              <a:t>Telef</a:t>
            </a:r>
            <a:r>
              <a:rPr lang="en-US" sz="1899">
                <a:solidFill>
                  <a:srgbClr val="006DAC"/>
                </a:solidFill>
                <a:latin typeface="Raleway"/>
                <a:ea typeface="Raleway"/>
                <a:cs typeface="Raleway"/>
                <a:sym typeface="Raleway"/>
              </a:rPr>
              <a:t>one: </a:t>
            </a:r>
            <a:r>
              <a:rPr lang="en-US" sz="1899" u="sng">
                <a:solidFill>
                  <a:srgbClr val="006DAC"/>
                </a:solidFill>
                <a:latin typeface="Raleway"/>
                <a:ea typeface="Raleway"/>
                <a:cs typeface="Raleway"/>
                <a:sym typeface="Raleway"/>
                <a:hlinkClick r:id="rId7" tooltip="https://www.google.com/search?q=EMPRESA+VIA+ONDA&amp;oq=EMPRESA+VIA+ONDA&amp;gs_lcrp=EgZjaHJvbWUyBggAEEUYOTIHCAEQIRigATIHCAIQIRigATIHCAMQIRigATIHCAQQIRifBTIHCAUQIRifBTIHCAYQIRifBTIHCAcQIRifBTIHCAgQIRifBTIHCAkQIRifBdIBCDUyNDRqMGo3qAIAsAIA&amp;sourceid=chrome&amp;ie=UTF-8"/>
              </a:rPr>
              <a:t>(19) 3441-6537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52659" y="4804410"/>
            <a:ext cx="597704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  <a:hlinkClick r:id="rId8" tooltip="https://www.google.com/search?sca_esv=178e2c54028f2967&amp;sxsrf=AE3TifM2Xohvm6m0ID88kFnIpil_liChDA:1763080620484&amp;q=viaonda+rfid+endere%C3%A7o&amp;ludocid=9254413982035958430&amp;sa=X&amp;ved=2ahUKEwihq-CQs_CQAxU0pZUCHQqpEkgQ6BN6BAgoEAI"/>
              </a:rPr>
              <a:t>Ender</a:t>
            </a:r>
            <a:r>
              <a:rPr lang="en-US" b="true" sz="1999" u="sng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  <a:hlinkClick r:id="rId9" tooltip="https://www.google.com/search?sca_esv=178e2c54028f2967&amp;sxsrf=AE3TifM2Xohvm6m0ID88kFnIpil_liChDA:1763080620484&amp;q=viaonda+rfid+endere%C3%A7o&amp;ludocid=9254413982035958430&amp;sa=X&amp;ved=2ahUKEwihq-CQs_CQAxU0pZUCHQqpEkgQ6BN6BAgoEAI"/>
              </a:rPr>
              <a:t>eço</a:t>
            </a:r>
            <a:r>
              <a:rPr lang="en-US" b="true" sz="1999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</a:rPr>
              <a:t>: Rua Gustavo Pfister, 210 - Jardim Porto Real II, Limeira - SP, 13485-396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1924" y="7182767"/>
            <a:ext cx="1894161" cy="1897612"/>
          </a:xfrm>
          <a:custGeom>
            <a:avLst/>
            <a:gdLst/>
            <a:ahLst/>
            <a:cxnLst/>
            <a:rect r="r" b="b" t="t" l="l"/>
            <a:pathLst>
              <a:path h="1897612" w="1894161">
                <a:moveTo>
                  <a:pt x="0" y="0"/>
                </a:moveTo>
                <a:lnTo>
                  <a:pt x="1894162" y="0"/>
                </a:lnTo>
                <a:lnTo>
                  <a:pt x="1894162" y="1897611"/>
                </a:lnTo>
                <a:lnTo>
                  <a:pt x="0" y="1897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06555" y="9784505"/>
            <a:ext cx="2541004" cy="1469400"/>
            <a:chOff x="0" y="0"/>
            <a:chExt cx="66923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9236" cy="387002"/>
            </a:xfrm>
            <a:custGeom>
              <a:avLst/>
              <a:gdLst/>
              <a:ahLst/>
              <a:cxnLst/>
              <a:rect r="r" b="b" t="t" l="l"/>
              <a:pathLst>
                <a:path h="387002" w="669236">
                  <a:moveTo>
                    <a:pt x="0" y="0"/>
                  </a:moveTo>
                  <a:lnTo>
                    <a:pt x="669236" y="0"/>
                  </a:lnTo>
                  <a:lnTo>
                    <a:pt x="66923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923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47559" y="9308255"/>
            <a:ext cx="862173" cy="1469400"/>
            <a:chOff x="0" y="0"/>
            <a:chExt cx="227074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074" cy="387002"/>
            </a:xfrm>
            <a:custGeom>
              <a:avLst/>
              <a:gdLst/>
              <a:ahLst/>
              <a:cxnLst/>
              <a:rect r="r" b="b" t="t" l="l"/>
              <a:pathLst>
                <a:path h="387002" w="227074">
                  <a:moveTo>
                    <a:pt x="0" y="0"/>
                  </a:moveTo>
                  <a:lnTo>
                    <a:pt x="227074" y="0"/>
                  </a:lnTo>
                  <a:lnTo>
                    <a:pt x="227074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7074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147559" y="78313"/>
            <a:ext cx="2062129" cy="2062129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333" r="0" b="-3833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06555" y="6198062"/>
            <a:ext cx="3356447" cy="3586443"/>
            <a:chOff x="0" y="0"/>
            <a:chExt cx="760676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0676" cy="812800"/>
            </a:xfrm>
            <a:custGeom>
              <a:avLst/>
              <a:gdLst/>
              <a:ahLst/>
              <a:cxnLst/>
              <a:rect r="r" b="b" t="t" l="l"/>
              <a:pathLst>
                <a:path h="812800" w="760676">
                  <a:moveTo>
                    <a:pt x="380338" y="0"/>
                  </a:moveTo>
                  <a:cubicBezTo>
                    <a:pt x="170283" y="0"/>
                    <a:pt x="0" y="181951"/>
                    <a:pt x="0" y="406400"/>
                  </a:cubicBezTo>
                  <a:cubicBezTo>
                    <a:pt x="0" y="630849"/>
                    <a:pt x="170283" y="812800"/>
                    <a:pt x="380338" y="812800"/>
                  </a:cubicBezTo>
                  <a:cubicBezTo>
                    <a:pt x="590393" y="812800"/>
                    <a:pt x="760676" y="630849"/>
                    <a:pt x="760676" y="406400"/>
                  </a:cubicBezTo>
                  <a:cubicBezTo>
                    <a:pt x="760676" y="181951"/>
                    <a:pt x="590393" y="0"/>
                    <a:pt x="380338" y="0"/>
                  </a:cubicBezTo>
                  <a:close/>
                </a:path>
              </a:pathLst>
            </a:custGeom>
            <a:blipFill>
              <a:blip r:embed="rId5"/>
              <a:stretch>
                <a:fillRect l="-3426" t="0" r="-3426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32063" y="5183498"/>
            <a:ext cx="16127237" cy="1713519"/>
          </a:xfrm>
          <a:custGeom>
            <a:avLst/>
            <a:gdLst/>
            <a:ahLst/>
            <a:cxnLst/>
            <a:rect r="r" b="b" t="t" l="l"/>
            <a:pathLst>
              <a:path h="1713519" w="16127237">
                <a:moveTo>
                  <a:pt x="0" y="0"/>
                </a:moveTo>
                <a:lnTo>
                  <a:pt x="16127237" y="0"/>
                </a:lnTo>
                <a:lnTo>
                  <a:pt x="16127237" y="1713519"/>
                </a:lnTo>
                <a:lnTo>
                  <a:pt x="0" y="1713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90995" y="1896144"/>
            <a:ext cx="12956564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6"/>
              </a:lnSpc>
              <a:spcBef>
                <a:spcPct val="0"/>
              </a:spcBef>
            </a:pPr>
            <a:r>
              <a:rPr lang="en-US" b="true" sz="63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ETIQUETA - ACUTAG UHF IQ350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31924" y="9248775"/>
            <a:ext cx="2153034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 strike="noStrike" u="non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VALOR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44928" y="9321019"/>
            <a:ext cx="2242691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</a:rPr>
              <a:t>ACUTAG UHF IQ350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2403" y="7115436"/>
            <a:ext cx="1604152" cy="1604152"/>
          </a:xfrm>
          <a:custGeom>
            <a:avLst/>
            <a:gdLst/>
            <a:ahLst/>
            <a:cxnLst/>
            <a:rect r="r" b="b" t="t" l="l"/>
            <a:pathLst>
              <a:path h="1604152" w="1604152">
                <a:moveTo>
                  <a:pt x="0" y="0"/>
                </a:moveTo>
                <a:lnTo>
                  <a:pt x="1604152" y="0"/>
                </a:lnTo>
                <a:lnTo>
                  <a:pt x="1604152" y="1604152"/>
                </a:lnTo>
                <a:lnTo>
                  <a:pt x="0" y="160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14965" y="9796952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75742" y="9552300"/>
            <a:ext cx="489701" cy="1469400"/>
            <a:chOff x="0" y="0"/>
            <a:chExt cx="128975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910717" y="0"/>
            <a:ext cx="2346427" cy="2346427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333" r="0" b="-38333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016553" y="5143500"/>
            <a:ext cx="15242747" cy="1448061"/>
          </a:xfrm>
          <a:custGeom>
            <a:avLst/>
            <a:gdLst/>
            <a:ahLst/>
            <a:cxnLst/>
            <a:rect r="r" b="b" t="t" l="l"/>
            <a:pathLst>
              <a:path h="1448061" w="15242747">
                <a:moveTo>
                  <a:pt x="0" y="0"/>
                </a:moveTo>
                <a:lnTo>
                  <a:pt x="15242747" y="0"/>
                </a:lnTo>
                <a:lnTo>
                  <a:pt x="15242747" y="1448061"/>
                </a:lnTo>
                <a:lnTo>
                  <a:pt x="0" y="1448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54153" y="2023297"/>
            <a:ext cx="12956564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6"/>
              </a:lnSpc>
              <a:spcBef>
                <a:spcPct val="0"/>
              </a:spcBef>
            </a:pPr>
            <a:r>
              <a:rPr lang="en-US" b="true" sz="63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LEITORES E ANTENA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52193" y="8742972"/>
            <a:ext cx="2924572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 strike="noStrike" u="none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MATERIAL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69705" y="3749675"/>
            <a:ext cx="1173644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Os equipamentos de leitura permanecem os mesmos, pois são compatíveis com a etiqueta IQ350 e essenciais para a infraestrutura de rastreamento.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7648" y="10042955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28425" y="9851883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28425" y="0"/>
            <a:ext cx="2359575" cy="2359575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575" r="0" b="-2109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642823" y="6704436"/>
            <a:ext cx="2200564" cy="1284329"/>
          </a:xfrm>
          <a:custGeom>
            <a:avLst/>
            <a:gdLst/>
            <a:ahLst/>
            <a:cxnLst/>
            <a:rect r="r" b="b" t="t" l="l"/>
            <a:pathLst>
              <a:path h="1284329" w="2200564">
                <a:moveTo>
                  <a:pt x="0" y="0"/>
                </a:moveTo>
                <a:lnTo>
                  <a:pt x="2200564" y="0"/>
                </a:lnTo>
                <a:lnTo>
                  <a:pt x="2200564" y="1284329"/>
                </a:lnTo>
                <a:lnTo>
                  <a:pt x="0" y="1284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0770" y="4476712"/>
            <a:ext cx="16098530" cy="1248791"/>
          </a:xfrm>
          <a:custGeom>
            <a:avLst/>
            <a:gdLst/>
            <a:ahLst/>
            <a:cxnLst/>
            <a:rect r="r" b="b" t="t" l="l"/>
            <a:pathLst>
              <a:path h="1248791" w="16098530">
                <a:moveTo>
                  <a:pt x="0" y="0"/>
                </a:moveTo>
                <a:lnTo>
                  <a:pt x="16098530" y="0"/>
                </a:lnTo>
                <a:lnTo>
                  <a:pt x="16098530" y="1248791"/>
                </a:lnTo>
                <a:lnTo>
                  <a:pt x="0" y="1248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3" r="-460" b="-18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89907" y="2144828"/>
            <a:ext cx="12956564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6"/>
              </a:lnSpc>
              <a:spcBef>
                <a:spcPct val="0"/>
              </a:spcBef>
            </a:pPr>
            <a:r>
              <a:rPr lang="en-US" b="true" sz="63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LEAD TIME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0819" y="8246044"/>
            <a:ext cx="2924572" cy="5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3364" spc="23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LIGÍSTICA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02458" y="6647286"/>
            <a:ext cx="11056842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</a:rPr>
              <a:t>Pedidos de Varejo/Pequeno Volume: </a:t>
            </a:r>
            <a:r>
              <a:rPr lang="en-US" b="true" sz="20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Frete via transportadora ou Correios, com custo a ser cotado no momento do pedido.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6DAC"/>
                </a:solidFill>
                <a:latin typeface="Raleway Bold"/>
                <a:ea typeface="Raleway Bold"/>
                <a:cs typeface="Raleway Bold"/>
                <a:sym typeface="Raleway Bold"/>
              </a:rPr>
              <a:t>Pedidos de Atacado (Acima de 1000 unidades):</a:t>
            </a:r>
            <a:r>
              <a:rPr lang="en-US" b="true" sz="209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Oferecemos Frete CIF (pago pela Via Onda) para as principais capitais e regiões metropolitanas do Brasil.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99271" y="9621587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4589" y="9621587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5210141" cy="10287000"/>
            <a:chOff x="0" y="0"/>
            <a:chExt cx="559632" cy="1104949"/>
          </a:xfrm>
        </p:grpSpPr>
        <p:sp>
          <p:nvSpPr>
            <p:cNvPr name="Freeform 9" id="9"/>
            <p:cNvSpPr/>
            <p:nvPr/>
          </p:nvSpPr>
          <p:spPr>
            <a:xfrm flipH="false" flipV="false" rot="5400000">
              <a:off x="-272658" y="272658"/>
              <a:ext cx="1104949" cy="559632"/>
            </a:xfrm>
            <a:custGeom>
              <a:avLst/>
              <a:gdLst/>
              <a:ahLst/>
              <a:cxnLst/>
              <a:rect r="r" b="b" t="t" l="l"/>
              <a:pathLst>
                <a:path h="559632" w="1104949">
                  <a:moveTo>
                    <a:pt x="0" y="559633"/>
                  </a:moveTo>
                  <a:lnTo>
                    <a:pt x="0" y="0"/>
                  </a:lnTo>
                  <a:lnTo>
                    <a:pt x="1104949" y="0"/>
                  </a:lnTo>
                  <a:lnTo>
                    <a:pt x="1104949" y="559633"/>
                  </a:lnTo>
                  <a:close/>
                </a:path>
              </a:pathLst>
            </a:custGeom>
            <a:blipFill>
              <a:blip r:embed="rId2"/>
              <a:stretch>
                <a:fillRect l="0" t="0" r="-1638" b="-1288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4555" y="-1014054"/>
            <a:ext cx="1660777" cy="1469400"/>
            <a:chOff x="0" y="0"/>
            <a:chExt cx="437406" cy="387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89873" y="-1014054"/>
            <a:ext cx="489701" cy="1469400"/>
            <a:chOff x="0" y="0"/>
            <a:chExt cx="128975" cy="3870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77859" y="0"/>
            <a:ext cx="5210141" cy="10287000"/>
            <a:chOff x="0" y="0"/>
            <a:chExt cx="559632" cy="1104949"/>
          </a:xfrm>
        </p:grpSpPr>
        <p:sp>
          <p:nvSpPr>
            <p:cNvPr name="Freeform 17" id="17"/>
            <p:cNvSpPr/>
            <p:nvPr/>
          </p:nvSpPr>
          <p:spPr>
            <a:xfrm flipH="false" flipV="false" rot="4198263">
              <a:off x="-335080" y="100362"/>
              <a:ext cx="1229792" cy="904225"/>
            </a:xfrm>
            <a:custGeom>
              <a:avLst/>
              <a:gdLst/>
              <a:ahLst/>
              <a:cxnLst/>
              <a:rect r="r" b="b" t="t" l="l"/>
              <a:pathLst>
                <a:path h="904225" w="1229792">
                  <a:moveTo>
                    <a:pt x="0" y="525786"/>
                  </a:moveTo>
                  <a:lnTo>
                    <a:pt x="191671" y="0"/>
                  </a:lnTo>
                  <a:lnTo>
                    <a:pt x="1229792" y="378439"/>
                  </a:lnTo>
                  <a:lnTo>
                    <a:pt x="1038121" y="904225"/>
                  </a:lnTo>
                  <a:close/>
                </a:path>
              </a:pathLst>
            </a:custGeom>
            <a:blipFill>
              <a:blip r:embed="rId3"/>
              <a:stretch>
                <a:fillRect l="-6453" t="0" r="-1122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996160" y="0"/>
            <a:ext cx="3291840" cy="3291840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888" r="0" b="-3888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065232" y="517843"/>
            <a:ext cx="615753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PROTOTIPO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08214" y="2635250"/>
            <a:ext cx="567157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 A ideia é comprar os sistemas com diferentes arquiteturas. </a:t>
            </a:r>
          </a:p>
          <a:p>
            <a:pPr algn="ctr">
              <a:lnSpc>
                <a:spcPts val="5599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  Esses protótipos  visam comprar as tecnologias e diferentes meios para alcançar mesmo objetivo.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29431" y="873365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09799" y="9201212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58355" y="-674452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8399649" y="8078724"/>
            <a:ext cx="489701" cy="1469400"/>
            <a:chOff x="0" y="0"/>
            <a:chExt cx="128975" cy="387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6D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5389976" cy="10287000"/>
            <a:chOff x="0" y="0"/>
            <a:chExt cx="870154" cy="1660727"/>
          </a:xfrm>
        </p:grpSpPr>
        <p:sp>
          <p:nvSpPr>
            <p:cNvPr name="Freeform 15" id="15"/>
            <p:cNvSpPr/>
            <p:nvPr/>
          </p:nvSpPr>
          <p:spPr>
            <a:xfrm flipH="false" flipV="false" rot="-5400000">
              <a:off x="-395286" y="395286"/>
              <a:ext cx="1660727" cy="870154"/>
            </a:xfrm>
            <a:custGeom>
              <a:avLst/>
              <a:gdLst/>
              <a:ahLst/>
              <a:cxnLst/>
              <a:rect r="r" b="b" t="t" l="l"/>
              <a:pathLst>
                <a:path h="870154" w="1660727">
                  <a:moveTo>
                    <a:pt x="1660727" y="0"/>
                  </a:moveTo>
                  <a:lnTo>
                    <a:pt x="1660727" y="870155"/>
                  </a:lnTo>
                  <a:lnTo>
                    <a:pt x="0" y="870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28" t="-5462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5400000">
            <a:off x="10393777" y="2392777"/>
            <a:ext cx="10040767" cy="5747680"/>
          </a:xfrm>
          <a:custGeom>
            <a:avLst/>
            <a:gdLst/>
            <a:ahLst/>
            <a:cxnLst/>
            <a:rect r="r" b="b" t="t" l="l"/>
            <a:pathLst>
              <a:path h="5747680" w="10040767">
                <a:moveTo>
                  <a:pt x="0" y="0"/>
                </a:moveTo>
                <a:lnTo>
                  <a:pt x="10040766" y="0"/>
                </a:lnTo>
                <a:lnTo>
                  <a:pt x="10040766" y="5747680"/>
                </a:lnTo>
                <a:lnTo>
                  <a:pt x="0" y="5747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05" t="-10538" r="-8510" b="-3366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282714" y="8213341"/>
            <a:ext cx="1722572" cy="1722572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888" r="0" b="-3888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065232" y="1009650"/>
            <a:ext cx="615753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0"/>
              </a:lnSpc>
            </a:pPr>
            <a:r>
              <a:rPr lang="en-US" b="true" sz="6500">
                <a:solidFill>
                  <a:srgbClr val="006DAC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PROTOTIPO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08214" y="2266565"/>
            <a:ext cx="567157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6DAC"/>
                </a:solidFill>
                <a:latin typeface="Proxima Nova"/>
                <a:ea typeface="Proxima Nova"/>
                <a:cs typeface="Proxima Nova"/>
                <a:sym typeface="Proxima Nova"/>
              </a:rPr>
              <a:t>As diferentes tecnologias utilizam sensores e receptores para identificar as ferramentas. Com maior diferença seus componentes e complexibilidade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6248" y="4018788"/>
            <a:ext cx="11695504" cy="222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68"/>
              </a:lnSpc>
              <a:spcBef>
                <a:spcPct val="0"/>
              </a:spcBef>
            </a:pPr>
            <a:r>
              <a:rPr lang="en-US" b="true" sz="144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OBRIGADO!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817163" y="-407530"/>
            <a:ext cx="18540006" cy="12270113"/>
          </a:xfrm>
          <a:custGeom>
            <a:avLst/>
            <a:gdLst/>
            <a:ahLst/>
            <a:cxnLst/>
            <a:rect r="r" b="b" t="t" l="l"/>
            <a:pathLst>
              <a:path h="12270113" w="18540006">
                <a:moveTo>
                  <a:pt x="0" y="0"/>
                </a:moveTo>
                <a:lnTo>
                  <a:pt x="18540006" y="0"/>
                </a:lnTo>
                <a:lnTo>
                  <a:pt x="18540006" y="12270113"/>
                </a:lnTo>
                <a:lnTo>
                  <a:pt x="0" y="122701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899" y="105455"/>
            <a:ext cx="3291840" cy="329184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888" r="0" b="-3888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DAG6IbXKcOw</dc:identifier>
  <dcterms:modified xsi:type="dcterms:W3CDTF">2011-08-01T06:04:30Z</dcterms:modified>
  <cp:revision>1</cp:revision>
  <dc:title>Cópia de Terceira Sprint</dc:title>
</cp:coreProperties>
</file>